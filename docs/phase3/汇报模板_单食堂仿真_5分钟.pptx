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开场说明：本次汇报 5 分钟，主题是“可复验的食堂仿真决策系统”。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目录只放主干，便于现场快速跟随。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重点：分工清晰是为了并行开发快，不是简单分活。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建议配一张架构图（可在本页右侧区域放图）。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一句话总结：分层明确，边界清晰，后续扩展代价低。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可在展示时用动画一次性点亮 3-5 个亮点。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现场主菜：只需按这 5 步走完，节奏稳定且抗风险。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收口：强调“可复验”比“看起来好看”更有说服力。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Q&amp;A：重点回答复验、2D兜底、指标含义。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latin typeface="Microsoft YaHei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Microsoft YaHei"/>
              </a:rPr>
              <a:t>Second level</a:t>
            </a:r>
          </a:p>
          <a:p>
            <a:pPr lvl="2"/>
            <a:r>
              <a:rPr lang="en-US" smtClean="0">
                <a:latin typeface="Microsoft YaHei"/>
              </a:rPr>
              <a:t>Third level</a:t>
            </a:r>
          </a:p>
          <a:p>
            <a:pPr lvl="3"/>
            <a:r>
              <a:rPr lang="en-US" smtClean="0">
                <a:latin typeface="Microsoft YaHei"/>
              </a:rPr>
              <a:t>Fourth level</a:t>
            </a:r>
          </a:p>
          <a:p>
            <a:pPr lvl="4"/>
            <a:r>
              <a:rPr lang="en-US" smtClean="0">
                <a:latin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>
                <a:latin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Microsoft YaHei"/>
              </a:rPr>
              <a:t>Second level</a:t>
            </a:r>
          </a:p>
          <a:p>
            <a:pPr lvl="2"/>
            <a:r>
              <a:rPr lang="en-US" smtClean="0">
                <a:latin typeface="Microsoft YaHei"/>
              </a:rPr>
              <a:t>Third level</a:t>
            </a:r>
          </a:p>
          <a:p>
            <a:pPr lvl="3"/>
            <a:r>
              <a:rPr lang="en-US" smtClean="0">
                <a:latin typeface="Microsoft YaHei"/>
              </a:rPr>
              <a:t>Fourth level</a:t>
            </a:r>
          </a:p>
          <a:p>
            <a:pPr lvl="4"/>
            <a:r>
              <a:rPr lang="en-US" smtClean="0">
                <a:latin typeface="Microsoft YaHei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Microsoft YaHei"/>
              </a:rPr>
              <a:t>Second level</a:t>
            </a:r>
          </a:p>
          <a:p>
            <a:pPr lvl="2"/>
            <a:r>
              <a:rPr lang="en-US" smtClean="0">
                <a:latin typeface="Microsoft YaHei"/>
              </a:rPr>
              <a:t>Third level</a:t>
            </a:r>
          </a:p>
          <a:p>
            <a:pPr lvl="3"/>
            <a:r>
              <a:rPr lang="en-US" smtClean="0">
                <a:latin typeface="Microsoft YaHei"/>
              </a:rPr>
              <a:t>Fourth level</a:t>
            </a:r>
          </a:p>
          <a:p>
            <a:pPr lvl="4"/>
            <a:r>
              <a:rPr lang="en-US" smtClean="0">
                <a:latin typeface="Microsoft YaHei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latin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Microsoft YaHei"/>
              </a:rPr>
              <a:t>Second level</a:t>
            </a:r>
          </a:p>
          <a:p>
            <a:pPr lvl="2"/>
            <a:r>
              <a:rPr lang="en-US" smtClean="0">
                <a:latin typeface="Microsoft YaHei"/>
              </a:rPr>
              <a:t>Third level</a:t>
            </a:r>
          </a:p>
          <a:p>
            <a:pPr lvl="3"/>
            <a:r>
              <a:rPr lang="en-US" smtClean="0">
                <a:latin typeface="Microsoft YaHei"/>
              </a:rPr>
              <a:t>Fourth level</a:t>
            </a:r>
          </a:p>
          <a:p>
            <a:pPr lvl="4"/>
            <a:r>
              <a:rPr lang="en-US" smtClean="0">
                <a:latin typeface="Microsoft YaHei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Microsoft YaHei"/>
              </a:rPr>
              <a:t>Second level</a:t>
            </a:r>
          </a:p>
          <a:p>
            <a:pPr lvl="2"/>
            <a:r>
              <a:rPr lang="en-US" smtClean="0">
                <a:latin typeface="Microsoft YaHei"/>
              </a:rPr>
              <a:t>Third level</a:t>
            </a:r>
          </a:p>
          <a:p>
            <a:pPr lvl="3"/>
            <a:r>
              <a:rPr lang="en-US" smtClean="0">
                <a:latin typeface="Microsoft YaHei"/>
              </a:rPr>
              <a:t>Fourth level</a:t>
            </a:r>
          </a:p>
          <a:p>
            <a:pPr lvl="4"/>
            <a:r>
              <a:rPr lang="en-US" smtClean="0">
                <a:latin typeface="Microsoft YaHei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Microsoft YaHei"/>
              </a:rPr>
              <a:t>Second level</a:t>
            </a:r>
          </a:p>
          <a:p>
            <a:pPr lvl="2"/>
            <a:r>
              <a:rPr lang="en-US" smtClean="0">
                <a:latin typeface="Microsoft YaHei"/>
              </a:rPr>
              <a:t>Third level</a:t>
            </a:r>
          </a:p>
          <a:p>
            <a:pPr lvl="3"/>
            <a:r>
              <a:rPr lang="en-US" smtClean="0">
                <a:latin typeface="Microsoft YaHei"/>
              </a:rPr>
              <a:t>Fourth level</a:t>
            </a:r>
          </a:p>
          <a:p>
            <a:pPr lvl="4"/>
            <a:r>
              <a:rPr lang="en-US" smtClean="0">
                <a:latin typeface="Microsoft YaHei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Microsoft YaHei"/>
              </a:rPr>
              <a:t>Second level</a:t>
            </a:r>
          </a:p>
          <a:p>
            <a:pPr lvl="2"/>
            <a:r>
              <a:rPr lang="en-US" smtClean="0">
                <a:latin typeface="Microsoft YaHei"/>
              </a:rPr>
              <a:t>Third level</a:t>
            </a:r>
          </a:p>
          <a:p>
            <a:pPr lvl="3"/>
            <a:r>
              <a:rPr lang="en-US" smtClean="0">
                <a:latin typeface="Microsoft YaHei"/>
              </a:rPr>
              <a:t>Fourth level</a:t>
            </a:r>
          </a:p>
          <a:p>
            <a:pPr lvl="4"/>
            <a:r>
              <a:rPr lang="en-US" smtClean="0">
                <a:latin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Microsoft YaHei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Microsoft YaHei"/>
              </a:rPr>
              <a:t>Second level</a:t>
            </a:r>
          </a:p>
          <a:p>
            <a:pPr lvl="2"/>
            <a:r>
              <a:rPr lang="en-US" smtClean="0">
                <a:latin typeface="Microsoft YaHei"/>
              </a:rPr>
              <a:t>Third level</a:t>
            </a:r>
          </a:p>
          <a:p>
            <a:pPr lvl="3"/>
            <a:r>
              <a:rPr lang="en-US" smtClean="0">
                <a:latin typeface="Microsoft YaHei"/>
              </a:rPr>
              <a:t>Fourth level</a:t>
            </a:r>
          </a:p>
          <a:p>
            <a:pPr lvl="4"/>
            <a:r>
              <a:rPr lang="en-US" smtClean="0">
                <a:latin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7111D"/>
                </a:solidFill>
              </a:defRPr>
            </a:pPr>
            <a:r>
              <a:t>标题：北京交通大学就餐仿真系统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315467"/>
                </a:solidFill>
              </a:defRPr>
            </a:pPr>
            <a:r>
              <a:t>5分钟汇报 · 单食堂3D数字孪生 + 运行时干预 + 可复验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7111D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 b="0">
                <a:solidFill>
                  <a:srgbClr val="2DD4BF"/>
                </a:solidFill>
                <a:latin typeface="Microsoft YaHei"/>
              </a:defRPr>
            </a:pPr>
            <a:r>
              <a:t>1. 分工</a:t>
            </a:r>
          </a:p>
          <a:p>
            <a:pPr>
              <a:defRPr sz="2800" b="0">
                <a:solidFill>
                  <a:srgbClr val="2DD4BF"/>
                </a:solidFill>
                <a:latin typeface="Microsoft YaHei"/>
              </a:defRPr>
            </a:pPr>
            <a:r>
              <a:t>2. 项目详细架构</a:t>
            </a:r>
          </a:p>
          <a:p>
            <a:pPr>
              <a:defRPr sz="2800" b="0">
                <a:solidFill>
                  <a:srgbClr val="2DD4BF"/>
                </a:solidFill>
                <a:latin typeface="Microsoft YaHei"/>
              </a:defRPr>
            </a:pPr>
            <a:r>
              <a:t>3. 代码结构</a:t>
            </a:r>
          </a:p>
          <a:p>
            <a:pPr>
              <a:defRPr sz="2800" b="0">
                <a:solidFill>
                  <a:srgbClr val="2DD4BF"/>
                </a:solidFill>
                <a:latin typeface="Microsoft YaHei"/>
              </a:defRPr>
            </a:pPr>
            <a:r>
              <a:t>4. 核心亮点</a:t>
            </a:r>
          </a:p>
          <a:p>
            <a:pPr>
              <a:defRPr sz="2800" b="0">
                <a:solidFill>
                  <a:srgbClr val="2DD4BF"/>
                </a:solidFill>
                <a:latin typeface="Microsoft YaHei"/>
              </a:defRPr>
            </a:pPr>
            <a:r>
              <a:t>5. 实物展示</a:t>
            </a:r>
          </a:p>
          <a:p>
            <a:pPr>
              <a:defRPr sz="2800" b="0">
                <a:solidFill>
                  <a:srgbClr val="2DD4BF"/>
                </a:solidFill>
                <a:latin typeface="Microsoft YaHei"/>
              </a:defRPr>
            </a:pPr>
            <a:r>
              <a:t>6. 总结与问题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7111D"/>
                </a:solidFill>
              </a:defRPr>
            </a:pPr>
            <a:r>
              <a:t>一、分工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 b="0">
                <a:solidFill>
                  <a:srgbClr val="07111D"/>
                </a:solidFill>
                <a:latin typeface="Microsoft YaHei"/>
              </a:defRPr>
            </a:pPr>
            <a:r>
              <a:t>后端：仿真模型、API、数据一致性</a:t>
            </a:r>
          </a:p>
          <a:p>
            <a:pPr>
              <a:defRPr sz="2600" b="0">
                <a:solidFill>
                  <a:srgbClr val="07111D"/>
                </a:solidFill>
                <a:latin typeface="Microsoft YaHei"/>
              </a:defRPr>
            </a:pPr>
            <a:r>
              <a:t>前端：3D主体验、2D兼容、交互控制</a:t>
            </a:r>
          </a:p>
          <a:p>
            <a:pPr>
              <a:defRPr sz="2600" b="0">
                <a:solidFill>
                  <a:srgbClr val="07111D"/>
                </a:solidFill>
                <a:latin typeface="Microsoft YaHei"/>
              </a:defRPr>
            </a:pPr>
            <a:r>
              <a:t>配置与分析：参数设计、指标解读、演示场景</a:t>
            </a:r>
          </a:p>
          <a:p>
            <a:pPr>
              <a:defRPr sz="2600" b="0">
                <a:solidFill>
                  <a:srgbClr val="07111D"/>
                </a:solidFill>
                <a:latin typeface="Microsoft YaHei"/>
              </a:defRPr>
            </a:pPr>
            <a:r>
              <a:t>交付机制：后端快照真实、前端展示无改造真值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7111D"/>
                </a:solidFill>
              </a:defRPr>
            </a:pPr>
            <a:r>
              <a:t>二、项目详细架构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前端层：参数输入、仿真控制、可视化展示、历史回放</a:t>
            </a:r>
          </a:p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服务层：Flask接口、快照写入、运行态状态同步</a:t>
            </a:r>
          </a:p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仿真层：SimPy离散事件、学生行为、窗口服务、座位占用</a:t>
            </a:r>
          </a:p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数据流：操作 -&gt; 后端状态 -&gt; snapshot -&gt; 前端渲染（单向）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7111D"/>
                </a:solidFill>
              </a:defRPr>
            </a:pPr>
            <a:r>
              <a:t>三、代码结构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backend/api/：路由层（配置、运行、快照、历史）</a:t>
            </a:r>
          </a:p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backend/simulation/：核心模型（食堂/窗口/学生/预设）</a:t>
            </a:r>
          </a:p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backend/tests/：行为与接口回归</a:t>
            </a:r>
          </a:p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frontend/static/js/：main.js / 页面交互 / 3D 模块</a:t>
            </a:r>
          </a:p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frontend/templates/：页面入口与资源挂载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7111D"/>
                </a:solidFill>
              </a:defRPr>
            </a:pPr>
            <a:r>
              <a:t>四、核心亮点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solidFill>
                  <a:srgbClr val="2DD4BF"/>
                </a:solidFill>
                <a:latin typeface="Microsoft YaHei"/>
              </a:defRPr>
            </a:pPr>
            <a:r>
              <a:t>单食堂主线（明湖）明确，演示焦点不漂移</a:t>
            </a:r>
          </a:p>
          <a:p>
            <a:pPr>
              <a:defRPr sz="2400" b="0">
                <a:solidFill>
                  <a:srgbClr val="2DD4BF"/>
                </a:solidFill>
                <a:latin typeface="Microsoft YaHei"/>
              </a:defRPr>
            </a:pPr>
            <a:r>
              <a:t>3D数字孪生主体验：多楼层、路径、队列、窗口、座位同步</a:t>
            </a:r>
          </a:p>
          <a:p>
            <a:pPr>
              <a:defRPr sz="2400" b="0">
                <a:solidFill>
                  <a:srgbClr val="2DD4BF"/>
                </a:solidFill>
                <a:latin typeface="Microsoft YaHei"/>
              </a:defRPr>
            </a:pPr>
            <a:r>
              <a:t>多角度观察：总览/侧视/俯视/自由视角</a:t>
            </a:r>
          </a:p>
          <a:p>
            <a:pPr>
              <a:defRPr sz="2400" b="0">
                <a:solidFill>
                  <a:srgbClr val="2DD4BF"/>
                </a:solidFill>
                <a:latin typeface="Microsoft YaHei"/>
              </a:defRPr>
            </a:pPr>
            <a:r>
              <a:t>运行时干预：窗口开关即刻影响仿真并可追溯</a:t>
            </a:r>
          </a:p>
          <a:p>
            <a:pPr>
              <a:defRPr sz="2400" b="0">
                <a:solidFill>
                  <a:srgbClr val="2DD4BF"/>
                </a:solidFill>
                <a:latin typeface="Microsoft YaHei"/>
              </a:defRPr>
            </a:pPr>
            <a:r>
              <a:t>演示可复验：同 seed 可重跑对比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7111D"/>
                </a:solidFill>
              </a:defRPr>
            </a:pPr>
            <a:r>
              <a:t>五、实物展示流程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solidFill>
                  <a:srgbClr val="07111D"/>
                </a:solidFill>
                <a:latin typeface="Microsoft YaHei"/>
              </a:defRPr>
            </a:pPr>
            <a:r>
              <a:t>步骤 1：基线参数启动（拥堵场景）</a:t>
            </a:r>
          </a:p>
          <a:p>
            <a:pPr>
              <a:defRPr sz="2400" b="0">
                <a:solidFill>
                  <a:srgbClr val="07111D"/>
                </a:solidFill>
                <a:latin typeface="Microsoft YaHei"/>
              </a:defRPr>
            </a:pPr>
            <a:r>
              <a:t>步骤 2：3D 主屏观察队列与拥堵变化</a:t>
            </a:r>
          </a:p>
          <a:p>
            <a:pPr>
              <a:defRPr sz="2400" b="0">
                <a:solidFill>
                  <a:srgbClr val="07111D"/>
                </a:solidFill>
                <a:latin typeface="Microsoft YaHei"/>
              </a:defRPr>
            </a:pPr>
            <a:r>
              <a:t>步骤 3：楼层下钻 + 路径与窗口状态检查</a:t>
            </a:r>
          </a:p>
          <a:p>
            <a:pPr>
              <a:defRPr sz="2400" b="0">
                <a:solidFill>
                  <a:srgbClr val="07111D"/>
                </a:solidFill>
                <a:latin typeface="Microsoft YaHei"/>
              </a:defRPr>
            </a:pPr>
            <a:r>
              <a:t>步骤 4：窗口开/关干预，实时查看变化</a:t>
            </a:r>
          </a:p>
          <a:p>
            <a:pPr>
              <a:defRPr sz="2400" b="0">
                <a:solidFill>
                  <a:srgbClr val="07111D"/>
                </a:solidFill>
                <a:latin typeface="Microsoft YaHei"/>
              </a:defRPr>
            </a:pPr>
            <a:r>
              <a:t>步骤 5：历史记录和日志同步展示（证明因果）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7111D"/>
                </a:solidFill>
              </a:defRPr>
            </a:pPr>
            <a:r>
              <a:t>六、总结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目标实现：把食堂调度从经验判断转为可验证流程</a:t>
            </a:r>
          </a:p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技术价值：3D可视 + 实时干预 + 历史追踪</a:t>
            </a:r>
          </a:p>
          <a:p>
            <a:pPr>
              <a:defRPr sz="2400" b="0">
                <a:solidFill>
                  <a:srgbClr val="315467"/>
                </a:solidFill>
                <a:latin typeface="Microsoft YaHei"/>
              </a:defRPr>
            </a:pPr>
            <a:r>
              <a:t>下一步：继续扩展指标解释性与可读性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7111D"/>
                </a:solidFill>
              </a:defRPr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/>
            </a:pPr>
            <a:r>
              <a:t>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
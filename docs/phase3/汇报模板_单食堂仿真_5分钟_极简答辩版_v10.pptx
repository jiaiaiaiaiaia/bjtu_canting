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开场：本次只讲一个闭环：能不能复验、能不能交付、能不能在答辩中讲清楚。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这一页提前给出答辩路径，让评委对内容有预期。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把这页讲成“边界清晰、互不踩线”。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强调单向可信流：UI 展示永远不越权计算后端指标。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背稿：从接口入口讲到核心模型，再到预设和测试。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重点是“JS 分层”：流程层、渲染层、交互层清晰分离，便于维护。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讲这页时避免堆功能，统一一句“不是炫，能判断”。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按这个顺序不偏离主题，现场失误更好修复。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这一页回答“你们是不是只做了一个界面效果”。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收束一句：从看着像仿真，变成能验证的决策系统。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Q&amp;A 先答可复验，再答稳定性和可追溯性。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5156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Microsoft YaHei"/>
              </a:defRPr>
            </a:pPr>
            <a:r>
              <a:t>北京交通大学就餐仿真系统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88920"/>
            <a:ext cx="10515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CDDCEF"/>
                </a:solidFill>
                <a:latin typeface="Microsoft YaHei"/>
              </a:defRPr>
            </a:pPr>
            <a:r>
              <a:t>5分钟汇报：单食堂3D数字孪生 · 仿真决策闭环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2C4D8"/>
                </a:solidFill>
                <a:latin typeface="Microsoft YaHei"/>
              </a:defRPr>
            </a:pPr>
            <a:r>
              <a:t>主题聚焦：分工、架构、代码结构、亮点、实物展示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64592" y="109728"/>
            <a:ext cx="82296" cy="6355080"/>
          </a:xfrm>
          <a:prstGeom prst="rect">
            <a:avLst/>
          </a:prstGeom>
          <a:solidFill>
            <a:srgbClr val="26C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0B2136"/>
                </a:solidFill>
                <a:latin typeface="Microsoft YaHei"/>
              </a:defRPr>
            </a:pPr>
            <a:r>
              <a:t>汇报结构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8627E"/>
                </a:solidFill>
                <a:latin typeface="Microsoft YaHei"/>
              </a:defRPr>
            </a:pPr>
            <a:r>
              <a:t>先给你一个10秒导航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1C2C3E"/>
                </a:solidFill>
                <a:latin typeface="Microsoft YaHei"/>
              </a:defRPr>
            </a:pPr>
            <a:r>
              <a:t>1 分工 · 每个人在做什么</a:t>
            </a:r>
          </a:p>
          <a:p>
            <a:pPr>
              <a:spcAft>
                <a:spcPts val="1400"/>
              </a:spcAft>
              <a:defRPr sz="2400">
                <a:solidFill>
                  <a:srgbClr val="1C2C3E"/>
                </a:solidFill>
                <a:latin typeface="Microsoft YaHei"/>
              </a:defRPr>
            </a:pPr>
            <a:r>
              <a:t>2 项目详细架构 · 怎么连起来</a:t>
            </a:r>
          </a:p>
          <a:p>
            <a:pPr>
              <a:spcAft>
                <a:spcPts val="1400"/>
              </a:spcAft>
              <a:defRPr sz="2400">
                <a:solidFill>
                  <a:srgbClr val="1C2C3E"/>
                </a:solidFill>
                <a:latin typeface="Microsoft YaHei"/>
              </a:defRPr>
            </a:pPr>
            <a:r>
              <a:t>3 代码结构 · 文件怎么分</a:t>
            </a:r>
          </a:p>
          <a:p>
            <a:pPr>
              <a:spcAft>
                <a:spcPts val="1400"/>
              </a:spcAft>
              <a:defRPr sz="2400">
                <a:solidFill>
                  <a:srgbClr val="1C2C3E"/>
                </a:solidFill>
                <a:latin typeface="Microsoft YaHei"/>
              </a:defRPr>
            </a:pPr>
            <a:r>
              <a:t>4 亮点 · 有什么能撑得住答辩</a:t>
            </a:r>
          </a:p>
          <a:p>
            <a:pPr>
              <a:spcAft>
                <a:spcPts val="1400"/>
              </a:spcAft>
              <a:defRPr sz="2400">
                <a:solidFill>
                  <a:srgbClr val="1C2C3E"/>
                </a:solidFill>
                <a:latin typeface="Microsoft YaHei"/>
              </a:defRPr>
            </a:pPr>
            <a:r>
              <a:t>5 实物展示 · 上手就能看见效果</a:t>
            </a:r>
          </a:p>
          <a:p>
            <a:pPr>
              <a:spcAft>
                <a:spcPts val="1400"/>
              </a:spcAft>
              <a:defRPr sz="2400">
                <a:solidFill>
                  <a:srgbClr val="1C2C3E"/>
                </a:solidFill>
                <a:latin typeface="Microsoft YaHei"/>
              </a:defRPr>
            </a:pPr>
            <a:r>
              <a:t>6 总结 · 回到“可复验”主线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320040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6C4AA"/>
                </a:solidFill>
                <a:latin typeface="Microsoft YaHei"/>
              </a:defRPr>
            </a:pPr>
            <a:r>
              <a:t>时长: 0:15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30936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18EA0"/>
                </a:solidFill>
                <a:latin typeface="Microsoft YaHei"/>
              </a:defRPr>
            </a:pPr>
            <a:r>
              <a:t>先给你一个10秒导航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64592" y="109728"/>
            <a:ext cx="82296" cy="6355080"/>
          </a:xfrm>
          <a:prstGeom prst="rect">
            <a:avLst/>
          </a:prstGeom>
          <a:solidFill>
            <a:srgbClr val="26C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0B2136"/>
                </a:solidFill>
                <a:latin typeface="Microsoft YaHei"/>
              </a:defRPr>
            </a:pPr>
            <a:r>
              <a:t>分工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8627E"/>
                </a:solidFill>
                <a:latin typeface="Microsoft YaHei"/>
              </a:defRPr>
            </a:pPr>
            <a:r>
              <a:t>为什么能高并发推进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1C2C3E"/>
                </a:solidFill>
                <a:latin typeface="Microsoft YaHei"/>
              </a:defRPr>
            </a:pPr>
            <a:r>
              <a:t>后端（核心）：模型、接口、快照一致性、异常修正</a:t>
            </a:r>
          </a:p>
          <a:p>
            <a:pPr>
              <a:spcAft>
                <a:spcPts val="1400"/>
              </a:spcAft>
              <a:defRPr sz="2400">
                <a:solidFill>
                  <a:srgbClr val="1C2C3E"/>
                </a:solidFill>
                <a:latin typeface="Microsoft YaHei"/>
              </a:defRPr>
            </a:pPr>
            <a:r>
              <a:t>前端（展示）：3D主场景、2D兜底、交互控制、演示面板</a:t>
            </a:r>
          </a:p>
          <a:p>
            <a:pPr>
              <a:spcAft>
                <a:spcPts val="1400"/>
              </a:spcAft>
              <a:defRPr sz="2400">
                <a:solidFill>
                  <a:srgbClr val="1C2C3E"/>
                </a:solidFill>
                <a:latin typeface="Microsoft YaHei"/>
              </a:defRPr>
            </a:pPr>
            <a:r>
              <a:t>配置与分析：参数标定、场景准备、指标解释</a:t>
            </a:r>
          </a:p>
          <a:p>
            <a:pPr>
              <a:spcAft>
                <a:spcPts val="1400"/>
              </a:spcAft>
              <a:defRPr sz="2400">
                <a:solidFill>
                  <a:srgbClr val="1C2C3E"/>
                </a:solidFill>
                <a:latin typeface="Microsoft YaHei"/>
              </a:defRPr>
            </a:pPr>
            <a:r>
              <a:t>协作规则：后端产出系统真值，前端仅负责消费与呈现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320040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6C4AA"/>
                </a:solidFill>
                <a:latin typeface="Microsoft YaHei"/>
              </a:defRPr>
            </a:pPr>
            <a:r>
              <a:t>时长: 0:30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30936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18EA0"/>
                </a:solidFill>
                <a:latin typeface="Microsoft YaHei"/>
              </a:defRPr>
            </a:pPr>
            <a:r>
              <a:t>为什么能高并发推进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64592" y="109728"/>
            <a:ext cx="82296" cy="6355080"/>
          </a:xfrm>
          <a:prstGeom prst="rect">
            <a:avLst/>
          </a:prstGeom>
          <a:solidFill>
            <a:srgbClr val="26C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0B2136"/>
                </a:solidFill>
                <a:latin typeface="Microsoft YaHei"/>
              </a:defRPr>
            </a:pPr>
            <a:r>
              <a:t>项目详细架构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8627E"/>
                </a:solidFill>
                <a:latin typeface="Microsoft YaHei"/>
              </a:defRPr>
            </a:pPr>
            <a:r>
              <a:t>这页是答辩可信度核心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1C2C3E"/>
                </a:solidFill>
                <a:latin typeface="Microsoft YaHei"/>
              </a:defRPr>
            </a:pPr>
            <a:r>
              <a:t>三层式设计：前端展示层 / 服务层 / 仿真引擎层</a:t>
            </a:r>
          </a:p>
          <a:p>
            <a:pPr>
              <a:spcAft>
                <a:spcPts val="1400"/>
              </a:spcAft>
              <a:defRPr sz="2400">
                <a:solidFill>
                  <a:srgbClr val="1C2C3E"/>
                </a:solidFill>
                <a:latin typeface="Microsoft YaHei"/>
              </a:defRPr>
            </a:pPr>
            <a:r>
              <a:t>前端只发送操作指令，不直接决定业务统计</a:t>
            </a:r>
          </a:p>
          <a:p>
            <a:pPr>
              <a:spcAft>
                <a:spcPts val="1400"/>
              </a:spcAft>
              <a:defRPr sz="2400">
                <a:solidFill>
                  <a:srgbClr val="1C2C3E"/>
                </a:solidFill>
                <a:latin typeface="Microsoft YaHei"/>
              </a:defRPr>
            </a:pPr>
            <a:r>
              <a:t>服务层统一落库历史、统一返回 snapshot（状态快照）</a:t>
            </a:r>
          </a:p>
          <a:p>
            <a:pPr>
              <a:spcAft>
                <a:spcPts val="1400"/>
              </a:spcAft>
              <a:defRPr sz="2400">
                <a:solidFill>
                  <a:srgbClr val="1C2C3E"/>
                </a:solidFill>
                <a:latin typeface="Microsoft YaHei"/>
              </a:defRPr>
            </a:pPr>
            <a:r>
              <a:t>仿真层按事件驱动推进：到达、排队、服务、就餐、离开</a:t>
            </a:r>
          </a:p>
          <a:p>
            <a:pPr>
              <a:spcAft>
                <a:spcPts val="1400"/>
              </a:spcAft>
              <a:defRPr sz="2400">
                <a:solidFill>
                  <a:srgbClr val="1C2C3E"/>
                </a:solidFill>
                <a:latin typeface="Microsoft YaHei"/>
              </a:defRPr>
            </a:pPr>
            <a:r>
              <a:t>结果可回放：历史查询用于复现和对比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320040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6C4AA"/>
                </a:solidFill>
                <a:latin typeface="Microsoft YaHei"/>
              </a:defRPr>
            </a:pPr>
            <a:r>
              <a:t>时长: 0:45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30936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18EA0"/>
                </a:solidFill>
                <a:latin typeface="Microsoft YaHei"/>
              </a:defRPr>
            </a:pPr>
            <a:r>
              <a:t>这页是答辩可信度核心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64592" y="109728"/>
            <a:ext cx="82296" cy="6355080"/>
          </a:xfrm>
          <a:prstGeom prst="rect">
            <a:avLst/>
          </a:prstGeom>
          <a:solidFill>
            <a:srgbClr val="26C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0B2136"/>
                </a:solidFill>
                <a:latin typeface="Microsoft YaHei"/>
              </a:defRPr>
            </a:pPr>
            <a:r>
              <a:t>代码结构（后端）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8627E"/>
                </a:solidFill>
                <a:latin typeface="Microsoft YaHei"/>
              </a:defRPr>
            </a:pPr>
            <a:r>
              <a:t>说明你不是讲故事，是讲得出入口边界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320040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6C4AA"/>
                </a:solidFill>
                <a:latin typeface="Microsoft YaHei"/>
              </a:defRPr>
            </a:pPr>
            <a:r>
              <a:t>时长: 1:00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0936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18EA0"/>
                </a:solidFill>
                <a:latin typeface="Microsoft YaHei"/>
              </a:defRPr>
            </a:pPr>
            <a:r>
              <a:t>后端文件按职责分层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17320"/>
          <a:ext cx="109270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708660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0B2136"/>
                          </a:solidFill>
                          <a:latin typeface="Microsoft YaHei"/>
                        </a:defRPr>
                      </a:pPr>
                      <a:r>
                        <a:t>文件/目录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0B2136"/>
                          </a:solidFill>
                          <a:latin typeface="Microsoft YaHei"/>
                        </a:defRPr>
                      </a:pPr>
                      <a:r>
                        <a:t>职责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C2C3E"/>
                          </a:solidFill>
                          <a:latin typeface="Microsoft YaHei"/>
                        </a:defRPr>
                      </a:pPr>
                      <a:r>
                        <a:t>backend/app.py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C2C3E"/>
                          </a:solidFill>
                          <a:latin typeface="Microsoft YaHei"/>
                        </a:defRPr>
                      </a:pPr>
                      <a:r>
                        <a:t>应用入口：创建 Flask App、注册路由与命令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C2C3E"/>
                          </a:solidFill>
                          <a:latin typeface="Microsoft YaHei"/>
                        </a:defRPr>
                      </a:pPr>
                      <a:r>
                        <a:t>backend/api/routes.py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C2C3E"/>
                          </a:solidFill>
                          <a:latin typeface="Microsoft YaHei"/>
                        </a:defRPr>
                      </a:pPr>
                      <a:r>
                        <a:t>Phase2 兼容 API：/api/config, /api/simulation/*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C2C3E"/>
                          </a:solidFill>
                          <a:latin typeface="Microsoft YaHei"/>
                        </a:defRPr>
                      </a:pPr>
                      <a:r>
                        <a:t>backend/api/campus_routes.py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C2C3E"/>
                          </a:solidFill>
                          <a:latin typeface="Microsoft YaHei"/>
                        </a:defRPr>
                      </a:pPr>
                      <a:r>
                        <a:t>3D/校园链路：配置、启动、step、history、干预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C2C3E"/>
                          </a:solidFill>
                          <a:latin typeface="Microsoft YaHei"/>
                        </a:defRPr>
                      </a:pPr>
                      <a:r>
                        <a:t>backend/simulation/engine.py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C2C3E"/>
                          </a:solidFill>
                          <a:latin typeface="Microsoft YaHei"/>
                        </a:defRPr>
                      </a:pPr>
                      <a:r>
                        <a:t>旧接口 facade，保持单食堂回归兼容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C2C3E"/>
                          </a:solidFill>
                          <a:latin typeface="Microsoft YaHei"/>
                        </a:defRPr>
                      </a:pPr>
                      <a:r>
                        <a:t>backend/simulation/coordinator.py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C2C3E"/>
                          </a:solidFill>
                          <a:latin typeface="Microsoft YaHei"/>
                        </a:defRPr>
                      </a:pPr>
                      <a:r>
                        <a:t>协调器：会话、快照、路由与窗口动作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C2C3E"/>
                          </a:solidFill>
                          <a:latin typeface="Microsoft YaHei"/>
                        </a:defRPr>
                      </a:pPr>
                      <a:r>
                        <a:t>backend/simulation/canteen.py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C2C3E"/>
                          </a:solidFill>
                          <a:latin typeface="Microsoft YaHei"/>
                        </a:defRPr>
                      </a:pPr>
                      <a:r>
                        <a:t>食堂模型：窗口、座位、楼层、窗口状态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C2C3E"/>
                          </a:solidFill>
                          <a:latin typeface="Microsoft YaHei"/>
                        </a:defRPr>
                      </a:pPr>
                      <a:r>
                        <a:t>backend/simulation/student.py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C2C3E"/>
                          </a:solidFill>
                          <a:latin typeface="Microsoft YaHei"/>
                        </a:defRPr>
                      </a:pPr>
                      <a:r>
                        <a:t>学生行为状态机：排队、就餐、离席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C2C3E"/>
                          </a:solidFill>
                          <a:latin typeface="Microsoft YaHei"/>
                        </a:defRPr>
                      </a:pPr>
                      <a:r>
                        <a:t>backend/simulation/presets/loader.py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C2C3E"/>
                          </a:solidFill>
                          <a:latin typeface="Microsoft YaHei"/>
                        </a:defRPr>
                      </a:pPr>
                      <a:r>
                        <a:t>单食堂/多食堂预设加载与组装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C2C3E"/>
                          </a:solidFill>
                          <a:latin typeface="Microsoft YaHei"/>
                        </a:defRPr>
                      </a:pPr>
                      <a:r>
                        <a:t>backend/tests/*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C2C3E"/>
                          </a:solidFill>
                          <a:latin typeface="Microsoft YaHei"/>
                        </a:defRPr>
                      </a:pPr>
                      <a:r>
                        <a:t>回归测试：稳定性、可复验、可量化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64592" y="109728"/>
            <a:ext cx="82296" cy="6355080"/>
          </a:xfrm>
          <a:prstGeom prst="rect">
            <a:avLst/>
          </a:prstGeom>
          <a:solidFill>
            <a:srgbClr val="26C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0B2136"/>
                </a:solidFill>
                <a:latin typeface="Microsoft YaHei"/>
              </a:defRPr>
            </a:pPr>
            <a:r>
              <a:t>代码结构（前端）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8627E"/>
                </a:solidFill>
                <a:latin typeface="Microsoft YaHei"/>
              </a:defRPr>
            </a:pPr>
            <a:r>
              <a:t>前端可扩展性来自模块边界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1C2C3E"/>
                </a:solidFill>
                <a:latin typeface="Microsoft YaHei"/>
              </a:defRPr>
            </a:pPr>
            <a:r>
              <a:t>frontend/templates/index.html：页面骨架、3D 脚本入口、模式入口</a:t>
            </a:r>
          </a:p>
          <a:p>
            <a:pPr>
              <a:spcAft>
                <a:spcPts val="1400"/>
              </a:spcAft>
              <a:defRPr sz="2400">
                <a:solidFill>
                  <a:srgbClr val="1C2C3E"/>
                </a:solidFill>
                <a:latin typeface="Microsoft YaHei"/>
              </a:defRPr>
            </a:pPr>
            <a:r>
              <a:t>frontend/static/js/main.js：全局状态、配置提交、运行控制</a:t>
            </a:r>
          </a:p>
          <a:p>
            <a:pPr>
              <a:spcAft>
                <a:spcPts val="1400"/>
              </a:spcAft>
              <a:defRPr sz="2400">
                <a:solidFill>
                  <a:srgbClr val="1C2C3E"/>
                </a:solidFill>
                <a:latin typeface="Microsoft YaHei"/>
              </a:defRPr>
            </a:pPr>
            <a:r>
              <a:t>frontend/static/js/campus.js：会话状态与画面联动</a:t>
            </a:r>
          </a:p>
          <a:p>
            <a:pPr>
              <a:spcAft>
                <a:spcPts val="1400"/>
              </a:spcAft>
              <a:defRPr sz="2400">
                <a:solidFill>
                  <a:srgbClr val="1C2C3E"/>
                </a:solidFill>
                <a:latin typeface="Microsoft YaHei"/>
              </a:defRPr>
            </a:pPr>
            <a:r>
              <a:t>frontend/static/js/three/scene3d.js：3D 渲染总入口</a:t>
            </a:r>
          </a:p>
          <a:p>
            <a:pPr>
              <a:spcAft>
                <a:spcPts val="1400"/>
              </a:spcAft>
              <a:defRPr sz="2400">
                <a:solidFill>
                  <a:srgbClr val="1C2C3E"/>
                </a:solidFill>
                <a:latin typeface="Microsoft YaHei"/>
              </a:defRPr>
            </a:pPr>
            <a:r>
              <a:t>frontend/static/js/three/canteen_scene.js：楼层、窗口、学生、座位渲染</a:t>
            </a:r>
          </a:p>
          <a:p>
            <a:pPr>
              <a:spcAft>
                <a:spcPts val="1400"/>
              </a:spcAft>
              <a:defRPr sz="2400">
                <a:solidFill>
                  <a:srgbClr val="1C2C3E"/>
                </a:solidFill>
                <a:latin typeface="Microsoft YaHei"/>
              </a:defRPr>
            </a:pPr>
            <a:r>
              <a:t>frontend/static/js/three/state_adapter.js：snapshot 映射为可动画状态</a:t>
            </a:r>
          </a:p>
          <a:p>
            <a:pPr>
              <a:spcAft>
                <a:spcPts val="1400"/>
              </a:spcAft>
              <a:defRPr sz="2400">
                <a:solidFill>
                  <a:srgbClr val="1C2C3E"/>
                </a:solidFill>
                <a:latin typeface="Microsoft YaHei"/>
              </a:defRPr>
            </a:pPr>
            <a:r>
              <a:t>frontend/static/js/three/intervention_ui.js：窗口干预按钮与日志面板</a:t>
            </a:r>
          </a:p>
          <a:p>
            <a:pPr>
              <a:spcAft>
                <a:spcPts val="1400"/>
              </a:spcAft>
              <a:defRPr sz="2400">
                <a:solidFill>
                  <a:srgbClr val="1C2C3E"/>
                </a:solidFill>
                <a:latin typeface="Microsoft YaHei"/>
              </a:defRPr>
            </a:pPr>
            <a:r>
              <a:t>frontend/static/css/style.css：3D 与 2D 的统一风格控制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320040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6C4AA"/>
                </a:solidFill>
                <a:latin typeface="Microsoft YaHei"/>
              </a:defRPr>
            </a:pPr>
            <a:r>
              <a:t>时长: 0:50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30936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18EA0"/>
                </a:solidFill>
                <a:latin typeface="Microsoft YaHei"/>
              </a:defRPr>
            </a:pPr>
            <a:r>
              <a:t>前端可扩展性来自模块边界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64592" y="109728"/>
            <a:ext cx="82296" cy="6355080"/>
          </a:xfrm>
          <a:prstGeom prst="rect">
            <a:avLst/>
          </a:prstGeom>
          <a:solidFill>
            <a:srgbClr val="26C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0B2136"/>
                </a:solidFill>
                <a:latin typeface="Microsoft YaHei"/>
              </a:defRPr>
            </a:pPr>
            <a:r>
              <a:t>核心亮点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8627E"/>
                </a:solidFill>
                <a:latin typeface="Microsoft YaHei"/>
              </a:defRPr>
            </a:pPr>
            <a:r>
              <a:t>答辩最容易加分的地方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1C2C3E"/>
                </a:solidFill>
                <a:latin typeface="Microsoft YaHei"/>
              </a:defRPr>
            </a:pPr>
            <a:r>
              <a:t>单食堂主线：明湖作为默认展示场景，范围稳定</a:t>
            </a:r>
          </a:p>
          <a:p>
            <a:pPr>
              <a:spcAft>
                <a:spcPts val="1400"/>
              </a:spcAft>
              <a:defRPr sz="2400">
                <a:solidFill>
                  <a:srgbClr val="1C2C3E"/>
                </a:solidFill>
                <a:latin typeface="Microsoft YaHei"/>
              </a:defRPr>
            </a:pPr>
            <a:r>
              <a:t>3D 真实运行视图：多楼层、窗口、座位、队列和路径可读</a:t>
            </a:r>
          </a:p>
          <a:p>
            <a:pPr>
              <a:spcAft>
                <a:spcPts val="1400"/>
              </a:spcAft>
              <a:defRPr sz="2400">
                <a:solidFill>
                  <a:srgbClr val="1C2C3E"/>
                </a:solidFill>
                <a:latin typeface="Microsoft YaHei"/>
              </a:defRPr>
            </a:pPr>
            <a:r>
              <a:t>多角度观察：总览/侧视/俯视/自由视角，讲解效率高</a:t>
            </a:r>
          </a:p>
          <a:p>
            <a:pPr>
              <a:spcAft>
                <a:spcPts val="1400"/>
              </a:spcAft>
              <a:defRPr sz="2400">
                <a:solidFill>
                  <a:srgbClr val="1C2C3E"/>
                </a:solidFill>
                <a:latin typeface="Microsoft YaHei"/>
              </a:defRPr>
            </a:pPr>
            <a:r>
              <a:t>运行时干预：窗口开关可即时影响仿真，且可追溯</a:t>
            </a:r>
          </a:p>
          <a:p>
            <a:pPr>
              <a:spcAft>
                <a:spcPts val="1400"/>
              </a:spcAft>
              <a:defRPr sz="2400">
                <a:solidFill>
                  <a:srgbClr val="1C2C3E"/>
                </a:solidFill>
                <a:latin typeface="Microsoft YaHei"/>
              </a:defRPr>
            </a:pPr>
            <a:r>
              <a:t>复验友好：同参数可重跑，history 对比，减少“演示偶然性”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320040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6C4AA"/>
                </a:solidFill>
                <a:latin typeface="Microsoft YaHei"/>
              </a:defRPr>
            </a:pPr>
            <a:r>
              <a:t>时长: 0:45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30936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18EA0"/>
                </a:solidFill>
                <a:latin typeface="Microsoft YaHei"/>
              </a:defRPr>
            </a:pPr>
            <a:r>
              <a:t>答辩最容易加分的地方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64592" y="109728"/>
            <a:ext cx="82296" cy="6355080"/>
          </a:xfrm>
          <a:prstGeom prst="rect">
            <a:avLst/>
          </a:prstGeom>
          <a:solidFill>
            <a:srgbClr val="26C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0B2136"/>
                </a:solidFill>
                <a:latin typeface="Microsoft YaHei"/>
              </a:defRPr>
            </a:pPr>
            <a:r>
              <a:t>实物展示（主菜）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8627E"/>
                </a:solidFill>
                <a:latin typeface="Microsoft YaHei"/>
              </a:defRPr>
            </a:pPr>
            <a:r>
              <a:t>每步都用“看什么 + 说什么”闭环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1C2C3E"/>
                </a:solidFill>
                <a:latin typeface="Microsoft YaHei"/>
              </a:defRPr>
            </a:pPr>
            <a:r>
              <a:t>Step1 进入单食堂基线参数并启动</a:t>
            </a:r>
          </a:p>
          <a:p>
            <a:pPr>
              <a:spcAft>
                <a:spcPts val="1400"/>
              </a:spcAft>
              <a:defRPr sz="2400">
                <a:solidFill>
                  <a:srgbClr val="1C2C3E"/>
                </a:solidFill>
                <a:latin typeface="Microsoft YaHei"/>
              </a:defRPr>
            </a:pPr>
            <a:r>
              <a:t>Step2 3D 主屏观察拥堵变化（队列、热力、状态）</a:t>
            </a:r>
          </a:p>
          <a:p>
            <a:pPr>
              <a:spcAft>
                <a:spcPts val="1400"/>
              </a:spcAft>
              <a:defRPr sz="2400">
                <a:solidFill>
                  <a:srgbClr val="1C2C3E"/>
                </a:solidFill>
                <a:latin typeface="Microsoft YaHei"/>
              </a:defRPr>
            </a:pPr>
            <a:r>
              <a:t>Step3 下钻一层检查路径与窗口分布</a:t>
            </a:r>
          </a:p>
          <a:p>
            <a:pPr>
              <a:spcAft>
                <a:spcPts val="1400"/>
              </a:spcAft>
              <a:defRPr sz="2400">
                <a:solidFill>
                  <a:srgbClr val="1C2C3E"/>
                </a:solidFill>
                <a:latin typeface="Microsoft YaHei"/>
              </a:defRPr>
            </a:pPr>
            <a:r>
              <a:t>Step4 执行窗口干预并立即刷新画面</a:t>
            </a:r>
          </a:p>
          <a:p>
            <a:pPr>
              <a:spcAft>
                <a:spcPts val="1400"/>
              </a:spcAft>
              <a:defRPr sz="2400">
                <a:solidFill>
                  <a:srgbClr val="1C2C3E"/>
                </a:solidFill>
                <a:latin typeface="Microsoft YaHei"/>
              </a:defRPr>
            </a:pPr>
            <a:r>
              <a:t>Step5 打开 history，核对干预事件与前后指标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320040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6C4AA"/>
                </a:solidFill>
                <a:latin typeface="Microsoft YaHei"/>
              </a:defRPr>
            </a:pPr>
            <a:r>
              <a:t>时长: 1:30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30936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18EA0"/>
                </a:solidFill>
                <a:latin typeface="Microsoft YaHei"/>
              </a:defRPr>
            </a:pPr>
            <a:r>
              <a:t>每步都用“看什么 + 说什么”闭环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64592" y="109728"/>
            <a:ext cx="82296" cy="6355080"/>
          </a:xfrm>
          <a:prstGeom prst="rect">
            <a:avLst/>
          </a:prstGeom>
          <a:solidFill>
            <a:srgbClr val="26C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0B2136"/>
                </a:solidFill>
                <a:latin typeface="Microsoft YaHei"/>
              </a:defRPr>
            </a:pPr>
            <a:r>
              <a:t>复验与交付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8627E"/>
                </a:solidFill>
                <a:latin typeface="Microsoft YaHei"/>
              </a:defRPr>
            </a:pPr>
            <a:r>
              <a:t>把答辩导向转向“可信度”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1C2C3E"/>
                </a:solidFill>
                <a:latin typeface="Microsoft YaHei"/>
              </a:defRPr>
            </a:pPr>
            <a:r>
              <a:t>重复性：固定 seed 与配置可复跑，结论稳定</a:t>
            </a:r>
          </a:p>
          <a:p>
            <a:pPr>
              <a:spcAft>
                <a:spcPts val="1400"/>
              </a:spcAft>
              <a:defRPr sz="2400">
                <a:solidFill>
                  <a:srgbClr val="1C2C3E"/>
                </a:solidFill>
                <a:latin typeface="Microsoft YaHei"/>
              </a:defRPr>
            </a:pPr>
            <a:r>
              <a:t>可追踪性：干预事件、快照、历史查询形成因果链</a:t>
            </a:r>
          </a:p>
          <a:p>
            <a:pPr>
              <a:spcAft>
                <a:spcPts val="1400"/>
              </a:spcAft>
              <a:defRPr sz="2400">
                <a:solidFill>
                  <a:srgbClr val="1C2C3E"/>
                </a:solidFill>
                <a:latin typeface="Microsoft YaHei"/>
              </a:defRPr>
            </a:pPr>
            <a:r>
              <a:t>交付稳定性：2D fallback 作为展示备用</a:t>
            </a:r>
          </a:p>
          <a:p>
            <a:pPr>
              <a:spcAft>
                <a:spcPts val="1400"/>
              </a:spcAft>
              <a:defRPr sz="2400">
                <a:solidFill>
                  <a:srgbClr val="1C2C3E"/>
                </a:solidFill>
                <a:latin typeface="Microsoft YaHei"/>
              </a:defRPr>
            </a:pPr>
            <a:r>
              <a:t>可持续性：测试与历史机制减少迭代回退风险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320040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6C4AA"/>
                </a:solidFill>
                <a:latin typeface="Microsoft YaHei"/>
              </a:defRPr>
            </a:pPr>
            <a:r>
              <a:t>时长: 0:30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30936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18EA0"/>
                </a:solidFill>
                <a:latin typeface="Microsoft YaHei"/>
              </a:defRPr>
            </a:pPr>
            <a:r>
              <a:t>把答辩导向转向“可信度”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64592" y="109728"/>
            <a:ext cx="82296" cy="6355080"/>
          </a:xfrm>
          <a:prstGeom prst="rect">
            <a:avLst/>
          </a:prstGeom>
          <a:solidFill>
            <a:srgbClr val="26C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0B2136"/>
                </a:solidFill>
                <a:latin typeface="Microsoft YaHei"/>
              </a:defRPr>
            </a:pPr>
            <a:r>
              <a:t>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8627E"/>
                </a:solidFill>
                <a:latin typeface="Microsoft YaHei"/>
              </a:defRPr>
            </a:pPr>
            <a:r>
              <a:t>3句话讲完价值与下一步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1C2C3E"/>
                </a:solidFill>
                <a:latin typeface="Microsoft YaHei"/>
              </a:defRPr>
            </a:pPr>
            <a:r>
              <a:t>把“食堂排队问题”从经验调整，升级为“可复验的仿真决策过程”</a:t>
            </a:r>
          </a:p>
          <a:p>
            <a:pPr>
              <a:spcAft>
                <a:spcPts val="1400"/>
              </a:spcAft>
              <a:defRPr sz="2400">
                <a:solidFill>
                  <a:srgbClr val="1C2C3E"/>
                </a:solidFill>
                <a:latin typeface="Microsoft YaHei"/>
              </a:defRPr>
            </a:pPr>
            <a:r>
              <a:t>核心交付：单食堂3D主体验 + 干预与历史闭环 + 复验流程</a:t>
            </a:r>
          </a:p>
          <a:p>
            <a:pPr>
              <a:spcAft>
                <a:spcPts val="1400"/>
              </a:spcAft>
              <a:defRPr sz="2400">
                <a:solidFill>
                  <a:srgbClr val="1C2C3E"/>
                </a:solidFill>
                <a:latin typeface="Microsoft YaHei"/>
              </a:defRPr>
            </a:pPr>
            <a:r>
              <a:t>下一步：增强指标解释与演示稳定性的自动化程度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320040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6C4AA"/>
                </a:solidFill>
                <a:latin typeface="Microsoft YaHei"/>
              </a:defRPr>
            </a:pPr>
            <a:r>
              <a:t>时长: 0:20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30936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18EA0"/>
                </a:solidFill>
                <a:latin typeface="Microsoft YaHei"/>
              </a:defRPr>
            </a:pPr>
            <a:r>
              <a:t>3句话讲完价值与下一步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0B2136"/>
                </a:solidFill>
                <a:latin typeface="Microsoft YaHei"/>
              </a:defRPr>
            </a:pPr>
            <a:r>
              <a:t>谢谢观看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8627E"/>
                </a:solidFill>
                <a:latin typeface="Microsoft YaHei"/>
              </a:defRPr>
            </a:pPr>
            <a:r>
              <a:t>欢迎提问：复验性 / 架构边界 / 演示稳定性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320040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6C4AA"/>
                </a:solidFill>
                <a:latin typeface="Microsoft YaHei"/>
              </a:defRPr>
            </a:pPr>
            <a:r>
              <a:t>时长: 0:30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0936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18EA0"/>
                </a:solidFill>
                <a:latin typeface="Microsoft YaHei"/>
              </a:defRPr>
            </a:pPr>
            <a:r>
              <a:t>答疑不跑题，先讲复验再讲细节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C2C3E"/>
                </a:solidFill>
                <a:latin typeface="Microsoft YaHei"/>
              </a:defRPr>
            </a:pPr>
            <a:r>
              <a:t>Q1 结果能重复吗？ → 固定配置复跑+history对照。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C2C3E"/>
                </a:solidFill>
                <a:latin typeface="Microsoft YaHei"/>
              </a:defRPr>
            </a:pPr>
            <a:r>
              <a:t>Q2 3D 为何不稳定还敢上台？ → 2D 兜底，核心价值在数据。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9184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C2C3E"/>
                </a:solidFill>
                <a:latin typeface="Microsoft YaHei"/>
              </a:defRPr>
            </a:pPr>
            <a:r>
              <a:t>Q3 干预是否可追责？ → 干预事件与快照全链可查。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